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6" y="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0D86D-BDCA-FBFD-64EC-FFAADFB45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E62BE-73B8-F88F-0CEC-AE93538E4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B8231-DA02-B2F1-38DF-D52D513E7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A7A4B-7B3C-0EF6-E479-EA5AF1882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989B4-B594-86A9-DEEA-E1C140F42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735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F79C8-76C2-B68B-49EE-2B41D5584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F7CDB-DE3E-0691-3EFA-E576C867F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27909-2558-1D33-ACB4-CF406D114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871A9-2F8E-B5D7-53B2-87B7DB5CF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850F2-D84A-E00E-C71A-0C828DA8D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775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D11B8-AC3B-0106-A69C-83020A8A8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11A73-15E7-5245-06BC-4F5B00E75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BFD10-1D51-4DAF-6953-FE669ED09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80D44-05EA-6B48-8B4E-CC481E7B5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A99EA-D546-7AD4-5A85-F0A140697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86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3FCE-3DF0-F6C2-94C0-30B97D62D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0A706-7F62-AD2D-9139-A38D2C895B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2C8836-3FD6-489D-42F9-6C007CE10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BA4DB5-1D59-BF5E-66CD-3AF671630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33321-0B0C-EE94-B492-89A109FE9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13688-731C-14FB-4880-5E24D30BA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85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7610F-BC06-B06A-FD4C-629EC9491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7F1CC-D425-8996-C601-FFA340EB4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A99C5-AAF5-A11F-6AEF-9FC0EFB7E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D04F5-BB15-C71C-8B58-DA5E4E66C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F377D2-3366-B6EC-FE86-264E3B3AD2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92CC00-41B7-F316-3B34-9193C1C37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6CB1E0-AB21-A6E1-E4D2-9B867C6E3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01782D-BAB2-A129-E77D-3151E2FD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7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66C39-DA0A-B82F-B976-390AE0CDA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F5CEBD-F54E-6255-7660-B90F23099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858DF7-3160-DF91-5D8E-E9CCB707A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6B206B-39CC-E9EC-2ABD-C9D9BF1E7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12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83C3D7-4E87-CD5A-ADE4-5CD80D313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7E2024-D64D-5058-D273-144C93755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21A0B-D69D-1E34-9FDA-E4DDFF882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836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D98EB-B48E-13F1-2699-28A45CE84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45A0C-2B86-4CDD-643D-BB84428EF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88C65-9044-AAD5-3870-FBBC4CDCE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3CABCA-52C6-2AE4-0A8F-4C24115EE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5789D6-0881-11D0-BB91-75FFBB3CD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1EC053-03FA-3D5B-A913-3F496BFE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6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8AA8C-058B-2A25-DCF2-38BDC7280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ADE509-A8F1-C794-A487-1157FEF9F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2A3875-4515-C983-9A6E-5A577B1E8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E8415-08B6-F8E8-2B4F-6509769E0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6A57F-B789-BF50-F242-57DBDC8B5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7033B-49C1-2B6D-E6DA-050114B0A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0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CC2E7-369E-CF15-36CB-5936432F6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3900A-D367-0FE4-FE69-F90B0F310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AC28D-1260-81EA-04FB-EAE88D95F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0D6F2-8922-C134-EB3E-8DE6FA90E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2C20A-C2DF-2871-E439-963078D8B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309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46EE4C-F517-5F1F-22F1-28DAF4413E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81B681-8361-29DD-2839-0D0344991D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18C82-B478-AAF9-E7A1-6564CC871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BA351-04B9-2191-18C0-F4D6FA36C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E41A1-3CAF-6107-FDEE-360EC705C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238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447DBD-85CD-0A75-0E2C-F2BCBC47C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96EDC-077C-F3DE-0930-2694F6F4C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09721-1653-6DA5-9FCD-A6F8E2E100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BCD3-1283-0A12-4F45-20D3E521E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CF420-3C15-BC6C-C556-C69C6856B5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457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eclipse.dev/paho/clients/python/" TargetMode="External"/><Relationship Id="rId13" Type="http://schemas.openxmlformats.org/officeDocument/2006/relationships/hyperlink" Target="https://pandas.pydata.org/docs/" TargetMode="External"/><Relationship Id="rId3" Type="http://schemas.openxmlformats.org/officeDocument/2006/relationships/hyperlink" Target="https://github.com/ostrovskysemen700/IOT_SMART_HOME" TargetMode="External"/><Relationship Id="rId7" Type="http://schemas.openxmlformats.org/officeDocument/2006/relationships/hyperlink" Target="https://example.com/insert-demo-link" TargetMode="External"/><Relationship Id="rId12" Type="http://schemas.openxmlformats.org/officeDocument/2006/relationships/hyperlink" Target="https://fastapi.tiangolo.com/" TargetMode="External"/><Relationship Id="rId2" Type="http://schemas.openxmlformats.org/officeDocument/2006/relationships/hyperlink" Target="https://github.com/dah4ik/IOT_SMART_HOME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youtu.be/iWD_I3g5njY" TargetMode="External"/><Relationship Id="rId11" Type="http://schemas.openxmlformats.org/officeDocument/2006/relationships/hyperlink" Target="https://www.sqlite.org/docs.html" TargetMode="External"/><Relationship Id="rId5" Type="http://schemas.openxmlformats.org/officeDocument/2006/relationships/hyperlink" Target="https://example.com/insert-video-link" TargetMode="External"/><Relationship Id="rId10" Type="http://schemas.openxmlformats.org/officeDocument/2006/relationships/hyperlink" Target="https://www.riverbankcomputing.com/static/Docs/PyQt5/" TargetMode="External"/><Relationship Id="rId4" Type="http://schemas.openxmlformats.org/officeDocument/2006/relationships/hyperlink" Target="https://youtu.be/gJU6OxXeCf0" TargetMode="External"/><Relationship Id="rId9" Type="http://schemas.openxmlformats.org/officeDocument/2006/relationships/hyperlink" Target="https://www.hivemq.com/mqtt/" TargetMode="External"/><Relationship Id="rId14" Type="http://schemas.openxmlformats.org/officeDocument/2006/relationships/hyperlink" Target="https://matplotlib.org/stable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-822960"/>
            <a:ext cx="3108960" cy="3108960"/>
          </a:xfrm>
          <a:prstGeom prst="ellipse">
            <a:avLst/>
          </a:prstGeom>
          <a:solidFill>
            <a:srgbClr val="0D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731520" y="5120640"/>
            <a:ext cx="2468880" cy="2468880"/>
          </a:xfrm>
          <a:prstGeom prst="ellipse">
            <a:avLst/>
          </a:prstGeom>
          <a:solidFill>
            <a:srgbClr val="0D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731520"/>
            <a:ext cx="10972800" cy="53949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12941" y="8686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dirty="0">
                <a:solidFill>
                  <a:srgbClr val="FFFFFF"/>
                </a:solidFill>
                <a:latin typeface="Aptos Display"/>
              </a:rPr>
              <a:t>IOT_SMART_HOME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941" y="160020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>
                <a:solidFill>
                  <a:srgbClr val="E5F4FF"/>
                </a:solidFill>
                <a:latin typeface="Aptos"/>
              </a:rPr>
              <a:t>Smart Home IoT Monitoring and Control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3012" y="2875340"/>
            <a:ext cx="484632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300" dirty="0">
                <a:solidFill>
                  <a:srgbClr val="22D3EE"/>
                </a:solidFill>
                <a:latin typeface="Aptos"/>
              </a:rPr>
              <a:t>• </a:t>
            </a:r>
            <a:r>
              <a:rPr sz="1300" dirty="0">
                <a:solidFill>
                  <a:srgbClr val="E5F4FF"/>
                </a:solidFill>
                <a:latin typeface="Aptos"/>
              </a:rPr>
              <a:t>Virtual devices: DHT, Light, Meter, Reed, Button, Relay</a:t>
            </a:r>
          </a:p>
          <a:p>
            <a:pPr>
              <a:spcAft>
                <a:spcPts val="800"/>
              </a:spcAft>
            </a:pPr>
            <a:r>
              <a:rPr sz="1300" dirty="0">
                <a:solidFill>
                  <a:srgbClr val="22D3EE"/>
                </a:solidFill>
                <a:latin typeface="Aptos"/>
              </a:rPr>
              <a:t>• </a:t>
            </a:r>
            <a:r>
              <a:rPr sz="1300" dirty="0">
                <a:solidFill>
                  <a:srgbClr val="E5F4FF"/>
                </a:solidFill>
                <a:latin typeface="Aptos"/>
              </a:rPr>
              <a:t>MQTT over </a:t>
            </a:r>
            <a:r>
              <a:rPr sz="1300" dirty="0" err="1">
                <a:solidFill>
                  <a:srgbClr val="E5F4FF"/>
                </a:solidFill>
                <a:latin typeface="Aptos"/>
              </a:rPr>
              <a:t>HiveMQ</a:t>
            </a:r>
            <a:r>
              <a:rPr sz="1300" dirty="0">
                <a:solidFill>
                  <a:srgbClr val="E5F4FF"/>
                </a:solidFill>
                <a:latin typeface="Aptos"/>
              </a:rPr>
              <a:t> public broker</a:t>
            </a:r>
          </a:p>
          <a:p>
            <a:pPr>
              <a:spcAft>
                <a:spcPts val="800"/>
              </a:spcAft>
            </a:pPr>
            <a:r>
              <a:rPr sz="1300" dirty="0">
                <a:solidFill>
                  <a:srgbClr val="22D3EE"/>
                </a:solidFill>
                <a:latin typeface="Aptos"/>
              </a:rPr>
              <a:t>• </a:t>
            </a:r>
            <a:r>
              <a:rPr sz="1300" dirty="0">
                <a:solidFill>
                  <a:srgbClr val="E5F4FF"/>
                </a:solidFill>
                <a:latin typeface="Aptos"/>
              </a:rPr>
              <a:t>Data Manager, SQLite DB, Rules, Alarms</a:t>
            </a:r>
          </a:p>
          <a:p>
            <a:pPr>
              <a:spcAft>
                <a:spcPts val="800"/>
              </a:spcAft>
            </a:pPr>
            <a:r>
              <a:rPr sz="1300" dirty="0">
                <a:solidFill>
                  <a:srgbClr val="22D3EE"/>
                </a:solidFill>
                <a:latin typeface="Aptos"/>
              </a:rPr>
              <a:t>• </a:t>
            </a:r>
            <a:r>
              <a:rPr sz="1300" dirty="0" err="1">
                <a:solidFill>
                  <a:srgbClr val="E5F4FF"/>
                </a:solidFill>
                <a:latin typeface="Aptos"/>
              </a:rPr>
              <a:t>PyQt</a:t>
            </a:r>
            <a:r>
              <a:rPr sz="1300" dirty="0">
                <a:solidFill>
                  <a:srgbClr val="E5F4FF"/>
                </a:solidFill>
                <a:latin typeface="Aptos"/>
              </a:rPr>
              <a:t> GUI, REST API, Web, Analytics,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325880"/>
            <a:ext cx="3154680" cy="6583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DEVICES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Telemetry + events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58200" y="1984248"/>
            <a:ext cx="0" cy="237744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903720" y="2286000"/>
            <a:ext cx="3154680" cy="6583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MQTT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broker.hivemq.com:1883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58200" y="2944368"/>
            <a:ext cx="0" cy="237744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03720" y="3246120"/>
            <a:ext cx="3154680" cy="6583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MANAGER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Parser + rules + DB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58200" y="3904487"/>
            <a:ext cx="0" cy="237745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03720" y="4206240"/>
            <a:ext cx="3154680" cy="6583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APPS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GUI + API + Web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12562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dirty="0">
                <a:solidFill>
                  <a:srgbClr val="94A3B8"/>
                </a:solidFill>
                <a:latin typeface="Aptos"/>
              </a:rPr>
              <a:t>IOT_SMART_HOME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55664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ptos"/>
              </a:rPr>
              <a:t>1/12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768F62-6173-6CF1-99A0-CD3BDC70035F}"/>
              </a:ext>
            </a:extLst>
          </p:cNvPr>
          <p:cNvSpPr txBox="1"/>
          <p:nvPr/>
        </p:nvSpPr>
        <p:spPr>
          <a:xfrm>
            <a:off x="812941" y="5201447"/>
            <a:ext cx="312899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E5F4FF"/>
                </a:solidFill>
                <a:latin typeface="Aptos"/>
              </a:rPr>
              <a:t>Students Names:</a:t>
            </a:r>
          </a:p>
          <a:p>
            <a:r>
              <a:rPr lang="en-US" sz="1800" dirty="0">
                <a:solidFill>
                  <a:srgbClr val="E5F4FF"/>
                </a:solidFill>
                <a:latin typeface="Aptos"/>
              </a:rPr>
              <a:t>Daniel Gunko 340969674</a:t>
            </a:r>
          </a:p>
          <a:p>
            <a:r>
              <a:rPr lang="en-US" dirty="0" err="1">
                <a:solidFill>
                  <a:srgbClr val="E5F4FF"/>
                </a:solidFill>
                <a:latin typeface="Aptos"/>
              </a:rPr>
              <a:t>Semion</a:t>
            </a:r>
            <a:r>
              <a:rPr lang="en-US" dirty="0">
                <a:solidFill>
                  <a:srgbClr val="E5F4FF"/>
                </a:solidFill>
                <a:latin typeface="Aptos"/>
              </a:rPr>
              <a:t> Ostrovsky 342795754</a:t>
            </a:r>
            <a:endParaRPr sz="1800" dirty="0">
              <a:solidFill>
                <a:srgbClr val="E5F4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-822960"/>
            <a:ext cx="3108960" cy="3108960"/>
          </a:xfrm>
          <a:prstGeom prst="ellipse">
            <a:avLst/>
          </a:prstGeom>
          <a:solidFill>
            <a:srgbClr val="0D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731520" y="5120640"/>
            <a:ext cx="2468880" cy="2468880"/>
          </a:xfrm>
          <a:prstGeom prst="ellipse">
            <a:avLst/>
          </a:prstGeom>
          <a:solidFill>
            <a:srgbClr val="0D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2007153" cy="55399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000" b="1" dirty="0">
                <a:solidFill>
                  <a:srgbClr val="FFFFFF"/>
                </a:solidFill>
                <a:latin typeface="Aptos Display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E5F4FF"/>
                </a:solidFill>
                <a:latin typeface="Aptos"/>
              </a:rPr>
              <a:t>Goal, topic and problem solved by the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112562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dirty="0">
                <a:solidFill>
                  <a:srgbClr val="94A3B8"/>
                </a:solidFill>
                <a:latin typeface="Aptos"/>
              </a:rPr>
              <a:t>IOT_SMART_HOME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55664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ptos"/>
              </a:rPr>
              <a:t>2/12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3429000" cy="196596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508760"/>
            <a:ext cx="64008" cy="1965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673351"/>
            <a:ext cx="3108960" cy="17282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Project topic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Virtual smart home monitoring system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Sensors generate data through MQTT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System detects events and reacts automatically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429000" cy="196596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508760"/>
            <a:ext cx="64008" cy="1965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673351"/>
            <a:ext cx="3108960" cy="17282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Problem addressed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Home data must be monitored continuously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Important situations must become warnings or actions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Users need live dashboards and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08760"/>
            <a:ext cx="3429000" cy="196596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508760"/>
            <a:ext cx="64008" cy="1965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1673351"/>
            <a:ext cx="3108960" cy="17282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Project outcome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Working software system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Emulators + broker + manager + DB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GUI, API, web dashboard, analytics and assistant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114800"/>
            <a:ext cx="9875520" cy="11430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43000" y="4114800"/>
            <a:ext cx="64008" cy="1143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44168" y="4279392"/>
            <a:ext cx="9555480" cy="9052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Main idea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The project demonstrates a full IoT workflow: device -&gt; broker -&gt; manager -&gt; database -&gt; dashboard -&gt; automation.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-822960"/>
            <a:ext cx="3108960" cy="3108960"/>
          </a:xfrm>
          <a:prstGeom prst="ellipse">
            <a:avLst/>
          </a:prstGeom>
          <a:solidFill>
            <a:srgbClr val="0D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731520" y="5120640"/>
            <a:ext cx="2468880" cy="2468880"/>
          </a:xfrm>
          <a:prstGeom prst="ellipse">
            <a:avLst/>
          </a:prstGeom>
          <a:solidFill>
            <a:srgbClr val="0D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24128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System Design 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E5F4FF"/>
                </a:solidFill>
                <a:latin typeface="Aptos"/>
              </a:rPr>
              <a:t>Block scheme of the complete IoT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240" y="6400800"/>
            <a:ext cx="112562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dirty="0">
                <a:solidFill>
                  <a:srgbClr val="94A3B8"/>
                </a:solidFill>
                <a:latin typeface="Aptos"/>
              </a:rPr>
              <a:t>IOT_SMART_HOME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55664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ptos"/>
              </a:rPr>
              <a:t>4/12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828800" cy="6858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Device Emulators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DHT / Light / Meter / Reed / Button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828800"/>
            <a:ext cx="1737360" cy="6858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MQTT Broker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HiveMQ routes topics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828800"/>
            <a:ext cx="1920240" cy="6858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Data Manager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parse + store +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051560"/>
            <a:ext cx="1783080" cy="64008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SQLite DB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history +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606040"/>
            <a:ext cx="1783080" cy="64008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Rule Engine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thresholds +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12680" y="1828800"/>
            <a:ext cx="1508760" cy="6858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User Apps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GUI / API / Web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14600" y="2167128"/>
            <a:ext cx="45720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09160" y="2167128"/>
            <a:ext cx="50292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132320" y="1417320"/>
            <a:ext cx="594359" cy="749808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132320" y="2167128"/>
            <a:ext cx="594359" cy="758952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509760" y="1371600"/>
            <a:ext cx="502920" cy="594360"/>
          </a:xfrm>
          <a:prstGeom prst="line">
            <a:avLst/>
          </a:prstGeom>
          <a:ln w="254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509760" y="2331720"/>
            <a:ext cx="502920" cy="594360"/>
          </a:xfrm>
          <a:prstGeom prst="line">
            <a:avLst/>
          </a:prstGeom>
          <a:ln w="2540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2960" y="3977639"/>
            <a:ext cx="5166360" cy="123444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3977639"/>
            <a:ext cx="64008" cy="1234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" y="4142231"/>
            <a:ext cx="4846320" cy="9966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Main architecture idea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MQTT decouples devices from applications.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Data Manager is the central orchestrator.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Rules turn raw data into alarms and actuator commands.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977639"/>
            <a:ext cx="4892040" cy="123444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55080" y="3977639"/>
            <a:ext cx="64008" cy="1234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56248" y="4142231"/>
            <a:ext cx="4572000" cy="9966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Data flow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Telemetry and events are stored in SQLite, then presented through PyQt GUI, REST API and a browser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-822960"/>
            <a:ext cx="3108960" cy="3108960"/>
          </a:xfrm>
          <a:prstGeom prst="ellipse">
            <a:avLst/>
          </a:prstGeom>
          <a:solidFill>
            <a:srgbClr val="0D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731520" y="5120640"/>
            <a:ext cx="2468880" cy="2468880"/>
          </a:xfrm>
          <a:prstGeom prst="ellipse">
            <a:avLst/>
          </a:prstGeom>
          <a:solidFill>
            <a:srgbClr val="0D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24128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000" b="1" dirty="0">
                <a:solidFill>
                  <a:srgbClr val="FFFFFF"/>
                </a:solidFill>
                <a:latin typeface="Aptos Display"/>
              </a:rPr>
              <a:t>Main Modules and Code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E5F4FF"/>
                </a:solidFill>
                <a:latin typeface="Aptos"/>
              </a:rPr>
              <a:t>Project files are divided by responsibility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112562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dirty="0">
                <a:solidFill>
                  <a:srgbClr val="94A3B8"/>
                </a:solidFill>
                <a:latin typeface="Aptos"/>
              </a:rPr>
              <a:t>IOT_SMART_HOME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55664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ptos"/>
              </a:rPr>
              <a:t>5/12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074920" cy="452628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664208"/>
            <a:ext cx="47091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5F4FF"/>
                </a:solidFill>
                <a:latin typeface="Consolas"/>
              </a:rPr>
              <a:t>IOT_SMART_HOME/
  config.py                 broker, topics, thresholds
  database.py               SQLite schema and data helpers
  core/mqtt_agent.py        reusable MQTT wrapper
  core/message_schema.py    JSON parsing and validation
  devices/emulators.py      virtual IoT devices
  manager/data_manager.py   processing application
  manager/rule_engine.py    configurable rule evaluation
  gui/main_gui.py           PyQt dashboard
  api/web_api.py            REST API + web dashboard
  analytics/data_analyzer.py
  assistant/assistant_bot.py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4983480" cy="11430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64008" cy="1143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581912"/>
            <a:ext cx="4663440" cy="9052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Separation of concerns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Each file has one clear role, which makes the system easier to test, explain and extend.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788920"/>
            <a:ext cx="4983480" cy="11430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2788920"/>
            <a:ext cx="64008" cy="1143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3368" y="2953512"/>
            <a:ext cx="4663440" cy="9052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Reusable core layer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core/mqtt_agent.py prevents duplicated MQTT connection logic across devices, manager, GUI, API and assistant.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160520"/>
            <a:ext cx="4983480" cy="11430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4160520"/>
            <a:ext cx="64008" cy="1143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368" y="4325112"/>
            <a:ext cx="4663440" cy="9052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Independent entry points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Data Manager, GUI, API, analytics and assistant can be started independently and use the same database/topics.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-822960"/>
            <a:ext cx="3108960" cy="3108960"/>
          </a:xfrm>
          <a:prstGeom prst="ellipse">
            <a:avLst/>
          </a:prstGeom>
          <a:solidFill>
            <a:srgbClr val="0D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731520" y="5120640"/>
            <a:ext cx="2468880" cy="2468880"/>
          </a:xfrm>
          <a:prstGeom prst="ellipse">
            <a:avLst/>
          </a:prstGeom>
          <a:solidFill>
            <a:srgbClr val="0D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24128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Targets and Main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E5F4FF"/>
                </a:solidFill>
                <a:latin typeface="Aptos"/>
              </a:rPr>
              <a:t>What the system is designed to demonstrate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112562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dirty="0">
                <a:solidFill>
                  <a:srgbClr val="94A3B8"/>
                </a:solidFill>
                <a:latin typeface="Aptos"/>
              </a:rPr>
              <a:t>IOT_SMART_HOME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55664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ptos"/>
              </a:rPr>
              <a:t>6/12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37560" cy="109728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64008" cy="1097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673351"/>
            <a:ext cx="3017520" cy="8595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Reliable MQTT messaging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All components exchange JSON messages through shared topics.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08760"/>
            <a:ext cx="3337560" cy="109728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508760"/>
            <a:ext cx="64008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7" y="1673351"/>
            <a:ext cx="3017520" cy="8595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 dirty="0">
                <a:solidFill>
                  <a:srgbClr val="FFFFFF"/>
                </a:solidFill>
                <a:latin typeface="Aptos Display"/>
              </a:rPr>
              <a:t>Real-time monitoring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E5F4FF"/>
                </a:solidFill>
                <a:latin typeface="Aptos"/>
              </a:rPr>
              <a:t>Telemetry is published continuously and shown in GUI/API.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08760"/>
            <a:ext cx="3337560" cy="109728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508760"/>
            <a:ext cx="64008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1673351"/>
            <a:ext cx="3017520" cy="8595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Rule-based automation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Thresholds and actions are stored in rules/rules.json.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108960"/>
            <a:ext cx="3337560" cy="109728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108960"/>
            <a:ext cx="64008" cy="10972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3273552"/>
            <a:ext cx="3017520" cy="8595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Persistent history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SQLite stores telemetry, events, alarms and relay commands.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108960"/>
            <a:ext cx="3337560" cy="109728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3108960"/>
            <a:ext cx="64008" cy="1097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36007" y="3273552"/>
            <a:ext cx="3017520" cy="8595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Multiple interfaces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Desktop GUI, web dashboard, REST API, analytics and assistant bot.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108960"/>
            <a:ext cx="3337560" cy="109728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38160" y="3108960"/>
            <a:ext cx="64008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9328" y="3273552"/>
            <a:ext cx="3017520" cy="8595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Extensibility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New devices and rules can be added without redesigning the system.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11680" y="5074920"/>
            <a:ext cx="8138160" cy="59436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011680" y="5074920"/>
            <a:ext cx="64008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94560" y="5129691"/>
            <a:ext cx="7818120" cy="3566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 dirty="0">
                <a:solidFill>
                  <a:srgbClr val="FFFFFF"/>
                </a:solidFill>
                <a:latin typeface="Aptos Display"/>
              </a:rPr>
              <a:t>MQTT topic examples</a:t>
            </a:r>
          </a:p>
          <a:p>
            <a:pPr>
              <a:spcAft>
                <a:spcPts val="200"/>
              </a:spcAft>
            </a:pPr>
            <a:r>
              <a:rPr sz="1050" dirty="0" err="1">
                <a:solidFill>
                  <a:srgbClr val="E5F4FF"/>
                </a:solidFill>
                <a:latin typeface="Aptos"/>
              </a:rPr>
              <a:t>iot_smart_home</a:t>
            </a:r>
            <a:r>
              <a:rPr sz="1050" dirty="0">
                <a:solidFill>
                  <a:srgbClr val="E5F4FF"/>
                </a:solidFill>
                <a:latin typeface="Aptos"/>
              </a:rPr>
              <a:t>/</a:t>
            </a:r>
            <a:r>
              <a:rPr sz="1050" dirty="0" err="1">
                <a:solidFill>
                  <a:srgbClr val="E5F4FF"/>
                </a:solidFill>
                <a:latin typeface="Aptos"/>
              </a:rPr>
              <a:t>dht</a:t>
            </a:r>
            <a:r>
              <a:rPr sz="1050" dirty="0">
                <a:solidFill>
                  <a:srgbClr val="E5F4FF"/>
                </a:solidFill>
                <a:latin typeface="Aptos"/>
              </a:rPr>
              <a:t>/telemetry  •  </a:t>
            </a:r>
            <a:r>
              <a:rPr sz="1050" dirty="0" err="1">
                <a:solidFill>
                  <a:srgbClr val="E5F4FF"/>
                </a:solidFill>
                <a:latin typeface="Aptos"/>
              </a:rPr>
              <a:t>iot_smart_home</a:t>
            </a:r>
            <a:r>
              <a:rPr sz="1050" dirty="0">
                <a:solidFill>
                  <a:srgbClr val="E5F4FF"/>
                </a:solidFill>
                <a:latin typeface="Aptos"/>
              </a:rPr>
              <a:t>/button/event  •  </a:t>
            </a:r>
            <a:r>
              <a:rPr sz="1050" dirty="0" err="1">
                <a:solidFill>
                  <a:srgbClr val="E5F4FF"/>
                </a:solidFill>
                <a:latin typeface="Aptos"/>
              </a:rPr>
              <a:t>iot_smart_home</a:t>
            </a:r>
            <a:r>
              <a:rPr sz="1050" dirty="0">
                <a:solidFill>
                  <a:srgbClr val="E5F4FF"/>
                </a:solidFill>
                <a:latin typeface="Aptos"/>
              </a:rPr>
              <a:t>/relay/</a:t>
            </a:r>
            <a:r>
              <a:rPr sz="1050" dirty="0" err="1">
                <a:solidFill>
                  <a:srgbClr val="E5F4FF"/>
                </a:solidFill>
                <a:latin typeface="Aptos"/>
              </a:rPr>
              <a:t>cmd</a:t>
            </a:r>
            <a:r>
              <a:rPr sz="1050" dirty="0">
                <a:solidFill>
                  <a:srgbClr val="E5F4FF"/>
                </a:solidFill>
                <a:latin typeface="Aptos"/>
              </a:rPr>
              <a:t>  •  </a:t>
            </a:r>
            <a:r>
              <a:rPr sz="1050" dirty="0" err="1">
                <a:solidFill>
                  <a:srgbClr val="E5F4FF"/>
                </a:solidFill>
                <a:latin typeface="Aptos"/>
              </a:rPr>
              <a:t>iot_smart_home</a:t>
            </a:r>
            <a:r>
              <a:rPr sz="1050" dirty="0">
                <a:solidFill>
                  <a:srgbClr val="E5F4FF"/>
                </a:solidFill>
                <a:latin typeface="Aptos"/>
              </a:rPr>
              <a:t>/alarms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-822960"/>
            <a:ext cx="3108960" cy="3108960"/>
          </a:xfrm>
          <a:prstGeom prst="ellipse">
            <a:avLst/>
          </a:prstGeom>
          <a:solidFill>
            <a:srgbClr val="0D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731520" y="5120640"/>
            <a:ext cx="2468880" cy="2468880"/>
          </a:xfrm>
          <a:prstGeom prst="ellipse">
            <a:avLst/>
          </a:prstGeom>
          <a:solidFill>
            <a:srgbClr val="0D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24128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Device Emulators and MQTT Payloads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E5F4FF"/>
                </a:solidFill>
                <a:latin typeface="Aptos"/>
              </a:rPr>
              <a:t>Virtual devices simulate real IoT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112562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dirty="0">
                <a:solidFill>
                  <a:srgbClr val="94A3B8"/>
                </a:solidFill>
                <a:latin typeface="Aptos"/>
              </a:rPr>
              <a:t>IOT_SMART_HOME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55664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ptos"/>
              </a:rPr>
              <a:t>7/12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3246120" cy="77724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DHT_SENSOR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temperature + humidity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246120" cy="77724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LIGHT_SENSOR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light intensity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246120" cy="77724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METER_SENSOR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electricity + 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97480"/>
            <a:ext cx="3246120" cy="77724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REED_SENSOR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door open / closed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697480"/>
            <a:ext cx="3246120" cy="77724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BUTTON_SENSOR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manual event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697480"/>
            <a:ext cx="3246120" cy="77724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RELAY_ACTUATOR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ON/OFF command +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06240"/>
            <a:ext cx="5166360" cy="11430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4206240"/>
            <a:ext cx="64008" cy="1143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4370831"/>
            <a:ext cx="4846320" cy="9052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Example DHT payload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{ "device": "DHT_SENSOR", "type": "telemetry", "temperature": 32.4, "humidity": 76.2 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206240"/>
            <a:ext cx="4892040" cy="11430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4206240"/>
            <a:ext cx="64008" cy="1143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56248" y="4370831"/>
            <a:ext cx="4572000" cy="9052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 dirty="0">
                <a:solidFill>
                  <a:srgbClr val="FFFFFF"/>
                </a:solidFill>
                <a:latin typeface="Aptos Display"/>
              </a:rPr>
              <a:t>Example relay command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E5F4FF"/>
                </a:solidFill>
                <a:latin typeface="Aptos"/>
              </a:rPr>
              <a:t>{ "device": "DATA_MANAGER", "type": "command", "value": 1, "reason": "</a:t>
            </a:r>
            <a:r>
              <a:rPr sz="1050" dirty="0" err="1">
                <a:solidFill>
                  <a:srgbClr val="E5F4FF"/>
                </a:solidFill>
                <a:latin typeface="Aptos"/>
              </a:rPr>
              <a:t>critical_temperature_relay_on</a:t>
            </a:r>
            <a:r>
              <a:rPr sz="1050" dirty="0">
                <a:solidFill>
                  <a:srgbClr val="E5F4FF"/>
                </a:solidFill>
                <a:latin typeface="Aptos"/>
              </a:rPr>
              <a:t>"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-822960"/>
            <a:ext cx="3108960" cy="3108960"/>
          </a:xfrm>
          <a:prstGeom prst="ellipse">
            <a:avLst/>
          </a:prstGeom>
          <a:solidFill>
            <a:srgbClr val="0D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731520" y="5120640"/>
            <a:ext cx="2468880" cy="2468880"/>
          </a:xfrm>
          <a:prstGeom prst="ellipse">
            <a:avLst/>
          </a:prstGeom>
          <a:solidFill>
            <a:srgbClr val="0D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24128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Data Manager, Database and Rule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E5F4FF"/>
                </a:solidFill>
                <a:latin typeface="Aptos"/>
              </a:rPr>
              <a:t>The central processing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112562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dirty="0">
                <a:solidFill>
                  <a:srgbClr val="94A3B8"/>
                </a:solidFill>
                <a:latin typeface="Aptos"/>
              </a:rPr>
              <a:t>IOT_SMART_HOME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55664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ptos"/>
              </a:rPr>
              <a:t>8/12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45920"/>
            <a:ext cx="1828800" cy="77724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1. MQTT input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subscribe to iot_smart_home/#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2039112"/>
            <a:ext cx="41148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1645920"/>
            <a:ext cx="1828800" cy="77724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2. Parse JSON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validate device + payload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54880" y="2039112"/>
            <a:ext cx="41148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1645920"/>
            <a:ext cx="1828800" cy="77724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 Display"/>
              </a:rPr>
              <a:t>3. Store DB</a:t>
            </a:r>
          </a:p>
          <a:p>
            <a:pPr algn="ctr"/>
            <a:r>
              <a:rPr sz="900" dirty="0">
                <a:solidFill>
                  <a:srgbClr val="E5F4FF"/>
                </a:solidFill>
                <a:latin typeface="Aptos"/>
              </a:rPr>
              <a:t>telemetry, events, alarms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95160" y="2039112"/>
            <a:ext cx="411480" cy="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06640" y="1645920"/>
            <a:ext cx="1828800" cy="77724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4. Evaluate rules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thresholds + actions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35440" y="2039112"/>
            <a:ext cx="411480" cy="0"/>
          </a:xfrm>
          <a:prstGeom prst="line">
            <a:avLst/>
          </a:prstGeom>
          <a:ln w="254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646920" y="1645920"/>
            <a:ext cx="1828800" cy="77724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5. Actuate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alarm topic + relay command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337560"/>
            <a:ext cx="3337560" cy="141732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3337560"/>
            <a:ext cx="64008" cy="1417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3502152"/>
            <a:ext cx="3017520" cy="11795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Database tables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devices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telemetry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events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alarms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relay_commands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337560"/>
            <a:ext cx="3337560" cy="141732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3337560"/>
            <a:ext cx="64008" cy="1417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36007" y="3502152"/>
            <a:ext cx="3017520" cy="11795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Rule actions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create_alarm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create_event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relay_on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relay_off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relay_toggle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337560"/>
            <a:ext cx="3337560" cy="141732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46720" y="3337560"/>
            <a:ext cx="64008" cy="1417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47888" y="3502152"/>
            <a:ext cx="3017520" cy="11795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Rule example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temperature &gt;= 35.0 -&gt; CRITICAL alarm + relay_on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-822960"/>
            <a:ext cx="3108960" cy="3108960"/>
          </a:xfrm>
          <a:prstGeom prst="ellipse">
            <a:avLst/>
          </a:prstGeom>
          <a:solidFill>
            <a:srgbClr val="0D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731520" y="5120640"/>
            <a:ext cx="2468880" cy="2468880"/>
          </a:xfrm>
          <a:prstGeom prst="ellipse">
            <a:avLst/>
          </a:prstGeom>
          <a:solidFill>
            <a:srgbClr val="0D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24128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Detailed Flow Case #1: Critical 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E5F4FF"/>
                </a:solidFill>
                <a:latin typeface="Aptos"/>
              </a:rPr>
              <a:t>Example of telemetry becoming an alarm and actuator 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1080745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dirty="0">
                <a:solidFill>
                  <a:srgbClr val="94A3B8"/>
                </a:solidFill>
                <a:latin typeface="Aptos"/>
              </a:rPr>
              <a:t>IOT_SMART_HOM</a:t>
            </a:r>
            <a:r>
              <a:rPr lang="en-US" sz="850" dirty="0">
                <a:solidFill>
                  <a:srgbClr val="94A3B8"/>
                </a:solidFill>
                <a:latin typeface="Aptos"/>
              </a:rPr>
              <a:t>E</a:t>
            </a:r>
            <a:endParaRPr sz="850" dirty="0">
              <a:solidFill>
                <a:srgbClr val="94A3B8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09960" y="6455664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ptos"/>
              </a:rPr>
              <a:t>9/12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1874519" cy="86868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DHT Sensor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36.2°C telemetry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7439" y="2258568"/>
            <a:ext cx="45720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39" y="1828800"/>
            <a:ext cx="1874519" cy="86868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MQTT Broker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routes message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09159" y="2258568"/>
            <a:ext cx="45720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59" y="1828800"/>
            <a:ext cx="1874519" cy="86868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Data Manager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stores telemetry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40879" y="2258568"/>
            <a:ext cx="457200" cy="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98079" y="1828800"/>
            <a:ext cx="1874519" cy="86868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Rule Engine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temperature &gt;= 35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72600" y="2258568"/>
            <a:ext cx="457200" cy="0"/>
          </a:xfrm>
          <a:prstGeom prst="line">
            <a:avLst/>
          </a:prstGeom>
          <a:ln w="254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829800" y="1828800"/>
            <a:ext cx="1874519" cy="86868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Relay + Alarm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relay ON + critical alarm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703320"/>
            <a:ext cx="5074920" cy="155448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" y="3703320"/>
            <a:ext cx="64008" cy="1554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5568" y="3867911"/>
            <a:ext cx="4754880" cy="13167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Step-by-step behavior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1. DHT emulator creates JSON telemetry.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2. Data Manager receives it from iot_smart_home/#.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3. Temperature is inserted into SQLite.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4. Rule creates critical alarm and relay command.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703320"/>
            <a:ext cx="4800600" cy="155448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55080" y="3703320"/>
            <a:ext cx="64008" cy="15544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56248" y="3867911"/>
            <a:ext cx="4480560" cy="13167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Triggered rule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critical_temperature_relay_on: source DHT_SENSOR, key temperature, operator &gt;=, threshold 35.0, actions create_alarm + relay_on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-822960"/>
            <a:ext cx="3108960" cy="3108960"/>
          </a:xfrm>
          <a:prstGeom prst="ellipse">
            <a:avLst/>
          </a:prstGeom>
          <a:solidFill>
            <a:srgbClr val="0D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731520" y="5120640"/>
            <a:ext cx="2468880" cy="2468880"/>
          </a:xfrm>
          <a:prstGeom prst="ellipse">
            <a:avLst/>
          </a:prstGeom>
          <a:solidFill>
            <a:srgbClr val="0D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24128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000" b="1" dirty="0">
                <a:solidFill>
                  <a:srgbClr val="FFFFFF"/>
                </a:solidFill>
                <a:latin typeface="Aptos Display"/>
              </a:rPr>
              <a:t>Detailed Flow Case #2: Button Toggles Relay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E5F4FF"/>
                </a:solidFill>
                <a:latin typeface="Aptos"/>
              </a:rPr>
              <a:t>Example of event handling and device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112562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dirty="0">
                <a:solidFill>
                  <a:srgbClr val="94A3B8"/>
                </a:solidFill>
                <a:latin typeface="Aptos"/>
              </a:rPr>
              <a:t>IOT_SMART_HOME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55664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ptos"/>
              </a:rPr>
              <a:t>10/12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1874519" cy="86868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Button Emulator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user presses Enter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7439" y="2258568"/>
            <a:ext cx="45720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39" y="1828800"/>
            <a:ext cx="1874519" cy="86868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MQTT Event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button/event topic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09159" y="2258568"/>
            <a:ext cx="45720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59" y="1828800"/>
            <a:ext cx="1874519" cy="86868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Data Manager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creates event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40879" y="2258568"/>
            <a:ext cx="457200" cy="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98079" y="1828800"/>
            <a:ext cx="1874519" cy="86868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Relay Command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toggle command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72600" y="2258568"/>
            <a:ext cx="457200" cy="0"/>
          </a:xfrm>
          <a:prstGeom prst="line">
            <a:avLst/>
          </a:prstGeom>
          <a:ln w="254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829800" y="1828800"/>
            <a:ext cx="1874519" cy="86868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Relay Status</a:t>
            </a:r>
          </a:p>
          <a:p>
            <a:pPr algn="ctr"/>
            <a:r>
              <a:rPr sz="900">
                <a:solidFill>
                  <a:srgbClr val="E5F4FF"/>
                </a:solidFill>
                <a:latin typeface="Aptos"/>
              </a:rPr>
              <a:t>ON/OFF update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703320"/>
            <a:ext cx="5120640" cy="123444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8680" y="3703320"/>
            <a:ext cx="64008" cy="1234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9848" y="3867911"/>
            <a:ext cx="4800600" cy="9966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Why this case is important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It shows that the system is not only passive monitoring. It reacts to user events and controls an actuator through MQTT.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703320"/>
            <a:ext cx="4892040" cy="123444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55080" y="3703320"/>
            <a:ext cx="64008" cy="1234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56248" y="3867911"/>
            <a:ext cx="4572000" cy="9966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Database trace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The system saves both the button event and the relay command, which gives evidence for the demo and later analysis.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5303520"/>
            <a:ext cx="8138160" cy="4572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011680" y="5303520"/>
            <a:ext cx="64008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94558" y="5303520"/>
            <a:ext cx="781812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 dirty="0">
                <a:solidFill>
                  <a:srgbClr val="FFFFFF"/>
                </a:solidFill>
                <a:latin typeface="Aptos Display"/>
              </a:rPr>
              <a:t>Payload examples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E5F4FF"/>
                </a:solidFill>
                <a:latin typeface="Aptos"/>
              </a:rPr>
              <a:t>Button: {"device":"BUTTON_SENSOR","type":"event","value":1}  -&gt;  Relay status: {"state":"ON","value":1}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-822960"/>
            <a:ext cx="3108960" cy="3108960"/>
          </a:xfrm>
          <a:prstGeom prst="ellipse">
            <a:avLst/>
          </a:prstGeom>
          <a:solidFill>
            <a:srgbClr val="0D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731520" y="5120640"/>
            <a:ext cx="2468880" cy="2468880"/>
          </a:xfrm>
          <a:prstGeom prst="ellipse">
            <a:avLst/>
          </a:prstGeom>
          <a:solidFill>
            <a:srgbClr val="0D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24128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000" b="1" dirty="0">
                <a:solidFill>
                  <a:srgbClr val="FFFFFF"/>
                </a:solidFill>
                <a:latin typeface="Aptos Display"/>
              </a:rPr>
              <a:t>User Interfaces and Demo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112562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dirty="0">
                <a:solidFill>
                  <a:srgbClr val="94A3B8"/>
                </a:solidFill>
                <a:latin typeface="Aptos"/>
              </a:rPr>
              <a:t>IOT_SMART_HOME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55664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ptos"/>
              </a:rPr>
              <a:t>11/12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2606040" cy="11430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417320"/>
            <a:ext cx="64008" cy="1143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581912"/>
            <a:ext cx="2286000" cy="9052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PyQt GUI Dashboard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Live values, door state, relay state, events, alarms and manual relay control.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417320"/>
            <a:ext cx="2606040" cy="11430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40" y="1417320"/>
            <a:ext cx="64008" cy="1143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1608" y="1581912"/>
            <a:ext cx="2286000" cy="9052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REST API + Web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Status, alarms, events, telemetry history and relay control from browser.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417320"/>
            <a:ext cx="2606040" cy="11430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55080" y="1417320"/>
            <a:ext cx="64008" cy="1143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56248" y="1581912"/>
            <a:ext cx="2286000" cy="9052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Analytics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Reads SQLite data and generates summaries/charts for key metrics.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606040" cy="11430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64008" cy="1143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90888" y="1581912"/>
            <a:ext cx="2286000" cy="9052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Assistant BOT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5F4FF"/>
                </a:solidFill>
                <a:latin typeface="Aptos"/>
              </a:rPr>
              <a:t>Text commands for status, alarms and relay ON/OFF control.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063240"/>
            <a:ext cx="3246120" cy="5669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0160">
            <a:solidFill>
              <a:srgbClr val="34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1. Start Data Manager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063240"/>
            <a:ext cx="3246120" cy="5669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0160">
            <a:solidFill>
              <a:srgbClr val="34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2. Start Relay emulator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063240"/>
            <a:ext cx="3246120" cy="5669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0160">
            <a:solidFill>
              <a:srgbClr val="34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3. Start DHT, Light, Meter, Reed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977639"/>
            <a:ext cx="3246120" cy="5669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0160">
            <a:solidFill>
              <a:srgbClr val="34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4. Press Button emulator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977639"/>
            <a:ext cx="3246120" cy="5669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0160">
            <a:solidFill>
              <a:srgbClr val="34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5. Open GUI and Web Dashboard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977639"/>
            <a:ext cx="3246120" cy="5669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0160">
            <a:solidFill>
              <a:srgbClr val="34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6. Show DB values, alarms and relay automation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349240"/>
            <a:ext cx="10089776" cy="50292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143000" y="5349240"/>
            <a:ext cx="64008" cy="5029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59420" y="5312664"/>
            <a:ext cx="10255328" cy="50013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 dirty="0">
                <a:solidFill>
                  <a:srgbClr val="FFFFFF"/>
                </a:solidFill>
                <a:latin typeface="Aptos Display"/>
              </a:rPr>
              <a:t>Run examples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E5F4FF"/>
                </a:solidFill>
                <a:latin typeface="Aptos"/>
              </a:rPr>
              <a:t>python manager/data_manager.py  •  python devices/emulators.py --device </a:t>
            </a:r>
            <a:r>
              <a:rPr sz="1050" dirty="0" err="1">
                <a:solidFill>
                  <a:srgbClr val="E5F4FF"/>
                </a:solidFill>
                <a:latin typeface="Aptos"/>
              </a:rPr>
              <a:t>dht</a:t>
            </a:r>
            <a:r>
              <a:rPr sz="1050" dirty="0">
                <a:solidFill>
                  <a:srgbClr val="E5F4FF"/>
                </a:solidFill>
                <a:latin typeface="Aptos"/>
              </a:rPr>
              <a:t> --interval 5  •  python gui/main_gu</a:t>
            </a:r>
            <a:r>
              <a:rPr lang="en-US" sz="1050" dirty="0">
                <a:solidFill>
                  <a:srgbClr val="E5F4FF"/>
                </a:solidFill>
                <a:latin typeface="Aptos"/>
              </a:rPr>
              <a:t>i</a:t>
            </a:r>
            <a:r>
              <a:rPr sz="1050" dirty="0">
                <a:solidFill>
                  <a:srgbClr val="E5F4FF"/>
                </a:solidFill>
                <a:latin typeface="Aptos"/>
              </a:rPr>
              <a:t>.py  •  </a:t>
            </a:r>
            <a:r>
              <a:rPr sz="1050" dirty="0" err="1">
                <a:solidFill>
                  <a:srgbClr val="E5F4FF"/>
                </a:solidFill>
                <a:latin typeface="Aptos"/>
              </a:rPr>
              <a:t>uvicorn</a:t>
            </a:r>
            <a:r>
              <a:rPr sz="1050" dirty="0">
                <a:solidFill>
                  <a:srgbClr val="E5F4FF"/>
                </a:solidFill>
                <a:latin typeface="Aptos"/>
              </a:rPr>
              <a:t> </a:t>
            </a:r>
            <a:r>
              <a:rPr sz="1050" dirty="0" err="1">
                <a:solidFill>
                  <a:srgbClr val="E5F4FF"/>
                </a:solidFill>
                <a:latin typeface="Aptos"/>
              </a:rPr>
              <a:t>api.web_api:app</a:t>
            </a:r>
            <a:r>
              <a:rPr sz="1050" dirty="0">
                <a:solidFill>
                  <a:srgbClr val="E5F4FF"/>
                </a:solidFill>
                <a:latin typeface="Aptos"/>
              </a:rPr>
              <a:t> --host 127.0.0.1 --port 8000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dirty="0"/>
          </a:p>
        </p:txBody>
      </p:sp>
      <p:sp>
        <p:nvSpPr>
          <p:cNvPr id="3" name="Oval 2"/>
          <p:cNvSpPr/>
          <p:nvPr/>
        </p:nvSpPr>
        <p:spPr>
          <a:xfrm>
            <a:off x="9784080" y="-822960"/>
            <a:ext cx="3108960" cy="3108960"/>
          </a:xfrm>
          <a:prstGeom prst="ellipse">
            <a:avLst/>
          </a:prstGeom>
          <a:solidFill>
            <a:srgbClr val="0D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731520" y="5120640"/>
            <a:ext cx="2468880" cy="2468880"/>
          </a:xfrm>
          <a:prstGeom prst="ellipse">
            <a:avLst/>
          </a:prstGeom>
          <a:solidFill>
            <a:srgbClr val="0D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24128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000" b="1" dirty="0">
                <a:solidFill>
                  <a:srgbClr val="FFFFFF"/>
                </a:solidFill>
                <a:latin typeface="Aptos Display"/>
              </a:rPr>
              <a:t>Summary, Submission Links and Bibliography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E5F4FF"/>
                </a:solidFill>
                <a:latin typeface="Aptos"/>
              </a:rPr>
              <a:t>Final project conclusion and supporting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112562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dirty="0">
                <a:solidFill>
                  <a:srgbClr val="94A3B8"/>
                </a:solidFill>
                <a:latin typeface="Aptos"/>
              </a:rPr>
              <a:t>IOT_SMART_HOME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55664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ptos"/>
              </a:rPr>
              <a:t>12/12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5257800" cy="141732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234440"/>
            <a:ext cx="64008" cy="1417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399032"/>
            <a:ext cx="4937760" cy="11795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lIns="0" rIns="0">
            <a:spAutoFit/>
          </a:bodyPr>
          <a:lstStyle/>
          <a:p>
            <a:r>
              <a:rPr sz="1600" b="1" dirty="0">
                <a:solidFill>
                  <a:srgbClr val="FFFFFF"/>
                </a:solidFill>
                <a:latin typeface="Aptos Display"/>
              </a:rPr>
              <a:t>Final summary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E5F4FF"/>
                </a:solidFill>
                <a:latin typeface="Aptos"/>
              </a:rPr>
              <a:t>IOT_SMART_HOME is a complete virtual IoT smart home project. It connects device emulators, MQTT communication, Data Manager, SQLite database, rule-based alarms, relay automation, GUI, API, web dashboard, analytics and assistant bot.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80360"/>
            <a:ext cx="5257800" cy="187451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2880360"/>
            <a:ext cx="64008" cy="1874519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9160" y="2944369"/>
            <a:ext cx="4937760" cy="16367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lIns="0" rIns="0">
            <a:spAutoFit/>
          </a:bodyPr>
          <a:lstStyle/>
          <a:p>
            <a:r>
              <a:rPr sz="1600" b="1" dirty="0">
                <a:solidFill>
                  <a:srgbClr val="FFFFFF"/>
                </a:solidFill>
                <a:latin typeface="Aptos Display"/>
              </a:rPr>
              <a:t>Submission links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E5F4FF"/>
                </a:solidFill>
                <a:latin typeface="Aptos"/>
              </a:rPr>
              <a:t>GitHub, recording and demo links are included as required by the course submission instructions.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20440"/>
            <a:ext cx="4617720" cy="23378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sz="919" u="sng" dirty="0">
                <a:solidFill>
                  <a:srgbClr val="22D3EE"/>
                </a:solidFill>
                <a:latin typeface="Aptos"/>
                <a:hlinkClick r:id="rId2"/>
              </a:rPr>
              <a:t>GitHub repository: https://github.com/dah4ik/IOT_SMART_HOME</a:t>
            </a:r>
            <a:endParaRPr sz="919" u="sng" dirty="0">
              <a:solidFill>
                <a:srgbClr val="22D3EE"/>
              </a:solidFill>
              <a:latin typeface="Aptos"/>
              <a:hlinkClick r:id="rId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0120" y="3886200"/>
            <a:ext cx="4617720" cy="23378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sz="919" u="sng" dirty="0">
                <a:solidFill>
                  <a:srgbClr val="22D3EE"/>
                </a:solidFill>
                <a:latin typeface="Aptos"/>
                <a:hlinkClick r:id="rId4"/>
              </a:rPr>
              <a:t>Presentation recording: https://youtu.be/gJU6OxXeCf0</a:t>
            </a:r>
            <a:endParaRPr sz="919" u="sng" dirty="0">
              <a:solidFill>
                <a:srgbClr val="22D3EE"/>
              </a:solidFill>
              <a:latin typeface="Aptos"/>
              <a:hlinkClick r:id="rId5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0120" y="4251960"/>
            <a:ext cx="4617720" cy="23378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sz="919" u="sng" dirty="0">
                <a:solidFill>
                  <a:srgbClr val="22D3EE"/>
                </a:solidFill>
                <a:latin typeface="Aptos"/>
                <a:hlinkClick r:id="rId6"/>
              </a:rPr>
              <a:t>Short demo video: https://youtu.be/iWD_I3g5njY</a:t>
            </a:r>
            <a:endParaRPr sz="919" u="sng" dirty="0">
              <a:solidFill>
                <a:srgbClr val="22D3EE"/>
              </a:solidFill>
              <a:latin typeface="Aptos"/>
              <a:hlinkClick r:id="rId7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63640" y="1234440"/>
            <a:ext cx="5303520" cy="452628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76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dirty="0"/>
          </a:p>
        </p:txBody>
      </p:sp>
      <p:sp>
        <p:nvSpPr>
          <p:cNvPr id="19" name="TextBox 18"/>
          <p:cNvSpPr txBox="1"/>
          <p:nvPr/>
        </p:nvSpPr>
        <p:spPr>
          <a:xfrm>
            <a:off x="6492240" y="14173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 Display"/>
              </a:rPr>
              <a:t>Bibliography and official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28800"/>
            <a:ext cx="480060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u="sng" dirty="0">
                <a:solidFill>
                  <a:srgbClr val="22D3EE"/>
                </a:solidFill>
                <a:latin typeface="Aptos"/>
                <a:hlinkClick r:id="rId8"/>
              </a:rPr>
              <a:t>Eclipse </a:t>
            </a:r>
            <a:r>
              <a:rPr sz="1400" u="sng" dirty="0" err="1">
                <a:solidFill>
                  <a:srgbClr val="22D3EE"/>
                </a:solidFill>
                <a:latin typeface="Aptos"/>
                <a:hlinkClick r:id="rId8"/>
              </a:rPr>
              <a:t>Paho</a:t>
            </a:r>
            <a:r>
              <a:rPr sz="1400" u="sng" dirty="0">
                <a:solidFill>
                  <a:srgbClr val="22D3EE"/>
                </a:solidFill>
                <a:latin typeface="Aptos"/>
                <a:hlinkClick r:id="rId8"/>
              </a:rPr>
              <a:t> MQTT Python Client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240280"/>
            <a:ext cx="480060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u="sng" dirty="0" err="1">
                <a:solidFill>
                  <a:srgbClr val="22D3EE"/>
                </a:solidFill>
                <a:latin typeface="Aptos"/>
                <a:hlinkClick r:id="rId9"/>
              </a:rPr>
              <a:t>HiveMQ</a:t>
            </a:r>
            <a:r>
              <a:rPr sz="1400" u="sng" dirty="0">
                <a:solidFill>
                  <a:srgbClr val="22D3EE"/>
                </a:solidFill>
                <a:latin typeface="Aptos"/>
                <a:hlinkClick r:id="rId9"/>
              </a:rPr>
              <a:t> MQTT Essentials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633472"/>
            <a:ext cx="480060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u="sng" dirty="0">
                <a:solidFill>
                  <a:srgbClr val="22D3EE"/>
                </a:solidFill>
                <a:latin typeface="Aptos"/>
                <a:hlinkClick r:id="rId10"/>
              </a:rPr>
              <a:t>PyQt5 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26664"/>
            <a:ext cx="480060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u="sng" dirty="0">
                <a:solidFill>
                  <a:srgbClr val="22D3EE"/>
                </a:solidFill>
                <a:latin typeface="Aptos"/>
                <a:hlinkClick r:id="rId11"/>
              </a:rPr>
              <a:t>SQLite Documentation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419856"/>
            <a:ext cx="480060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u="sng" dirty="0" err="1">
                <a:solidFill>
                  <a:srgbClr val="22D3EE"/>
                </a:solidFill>
                <a:latin typeface="Aptos"/>
                <a:hlinkClick r:id="rId12"/>
              </a:rPr>
              <a:t>FastAPI</a:t>
            </a:r>
            <a:r>
              <a:rPr sz="1400" u="sng" dirty="0">
                <a:solidFill>
                  <a:srgbClr val="22D3EE"/>
                </a:solidFill>
                <a:latin typeface="Aptos"/>
                <a:hlinkClick r:id="rId12"/>
              </a:rPr>
              <a:t> Documentation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813048"/>
            <a:ext cx="480060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sz="1400" u="sng" dirty="0">
                <a:solidFill>
                  <a:srgbClr val="22D3EE"/>
                </a:solidFill>
                <a:latin typeface="Aptos"/>
                <a:hlinkClick r:id="rId13"/>
              </a:rPr>
              <a:t>P</a:t>
            </a:r>
            <a:r>
              <a:rPr sz="1400" u="sng" dirty="0">
                <a:solidFill>
                  <a:srgbClr val="22D3EE"/>
                </a:solidFill>
                <a:latin typeface="Aptos"/>
                <a:hlinkClick r:id="rId13"/>
              </a:rPr>
              <a:t>andas Documentation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206240"/>
            <a:ext cx="480060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u="sng" dirty="0">
                <a:solidFill>
                  <a:srgbClr val="22D3EE"/>
                </a:solidFill>
                <a:latin typeface="Aptos"/>
                <a:hlinkClick r:id="rId14"/>
              </a:rPr>
              <a:t>Matplotlib Documentation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55664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ptos"/>
              </a:rPr>
              <a:t>12/12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39EBFF-05C9-59DB-EEF4-FDE5F45AF032}"/>
              </a:ext>
            </a:extLst>
          </p:cNvPr>
          <p:cNvSpPr txBox="1"/>
          <p:nvPr/>
        </p:nvSpPr>
        <p:spPr>
          <a:xfrm>
            <a:off x="6436501" y="4567568"/>
            <a:ext cx="312899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E5F4FF"/>
                </a:solidFill>
                <a:latin typeface="Aptos"/>
              </a:rPr>
              <a:t>Students Names:</a:t>
            </a:r>
          </a:p>
          <a:p>
            <a:r>
              <a:rPr lang="en-US" sz="1800" dirty="0">
                <a:solidFill>
                  <a:srgbClr val="E5F4FF"/>
                </a:solidFill>
                <a:latin typeface="Aptos"/>
              </a:rPr>
              <a:t>Daniel Gunko 340969674</a:t>
            </a:r>
          </a:p>
          <a:p>
            <a:r>
              <a:rPr lang="en-US" dirty="0" err="1">
                <a:solidFill>
                  <a:srgbClr val="E5F4FF"/>
                </a:solidFill>
                <a:latin typeface="Aptos"/>
              </a:rPr>
              <a:t>Semion</a:t>
            </a:r>
            <a:r>
              <a:rPr lang="en-US" dirty="0">
                <a:solidFill>
                  <a:srgbClr val="E5F4FF"/>
                </a:solidFill>
                <a:latin typeface="Aptos"/>
              </a:rPr>
              <a:t> Ostrovsky 342795754</a:t>
            </a:r>
            <a:endParaRPr sz="1800" dirty="0">
              <a:solidFill>
                <a:srgbClr val="E5F4F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1449</Words>
  <Application>Microsoft Office PowerPoint</Application>
  <PresentationFormat>Widescreen</PresentationFormat>
  <Paragraphs>219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Daniel Gunko</cp:lastModifiedBy>
  <cp:revision>4</cp:revision>
  <dcterms:created xsi:type="dcterms:W3CDTF">2013-01-27T09:14:16Z</dcterms:created>
  <dcterms:modified xsi:type="dcterms:W3CDTF">2026-06-20T12:32:31Z</dcterms:modified>
  <cp:category/>
</cp:coreProperties>
</file>